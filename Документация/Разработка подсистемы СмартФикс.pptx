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10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2106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086A8BC-2587-4C8F-AA68-D004FF03752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61261523-A482-4EC2-A19E-86FB8F03EDE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F2093062-2AC6-4D1E-B637-EC8C13C371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C09A54-4DF9-4EC3-B7B2-F195F9A44528}" type="datetimeFigureOut">
              <a:rPr lang="ru-RU" smtClean="0"/>
              <a:t>25.11.2025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BCD3B71C-C86E-4C42-AB8C-9FD4CA4C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5F4ADD3-02FE-413C-AB0A-3E04493EC7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AE5F37-29E2-4458-82C1-2C291FE5A8E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129128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1A120E5-9706-440D-BD3A-B72B28E64F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E5AA542-2855-4092-86C1-59B5B37420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9316924-6551-4283-A227-0DB72D02F0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C09A54-4DF9-4EC3-B7B2-F195F9A44528}" type="datetimeFigureOut">
              <a:rPr lang="ru-RU" smtClean="0"/>
              <a:t>25.11.2025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E427905-C2F0-4D01-8931-FADC89303D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AFB9463-C13C-4A6B-8571-A67E2FEBBA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AE5F37-29E2-4458-82C1-2C291FE5A8E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548357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58C3037-564F-4D95-960C-40FDDCD349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1A5DBC2A-260E-4C17-A59F-D10221D62B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B727B0E-861D-4D37-902C-9169A687A4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C09A54-4DF9-4EC3-B7B2-F195F9A44528}" type="datetimeFigureOut">
              <a:rPr lang="ru-RU" smtClean="0"/>
              <a:t>25.11.2025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981E910D-8FF2-46ED-9C99-44C7632F0F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49D551E8-F990-45BD-99E5-9B1E5D3E74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AE5F37-29E2-4458-82C1-2C291FE5A8E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981229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9CBF716-622B-4CD8-A84F-E707DA8859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43C9C3D-9FCF-4DAE-B5F3-9276F4730CD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3E09DE47-03AE-4A5F-B823-E4F612BF44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50553197-937A-4B50-A84E-EE8788B955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C09A54-4DF9-4EC3-B7B2-F195F9A44528}" type="datetimeFigureOut">
              <a:rPr lang="ru-RU" smtClean="0"/>
              <a:t>25.11.2025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4699078B-A647-4D19-BD1C-3EAED499CA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BA3AD43D-58FC-4DE7-97F6-9E885FE60E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AE5F37-29E2-4458-82C1-2C291FE5A8E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370259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6BB537C-1312-4D39-B881-31F2DDEE1F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FACE5E7-88C7-486F-8E09-9BB7A0AFA5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3CEFF5B1-4878-4C3F-B10C-3AE70094405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7409840B-D962-46E9-A801-D7F7EE1CE12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F9F99963-DE1E-4A86-8E8C-D4F68980840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07E0E5A6-90FC-40F0-B77F-FF96B957F8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C09A54-4DF9-4EC3-B7B2-F195F9A44528}" type="datetimeFigureOut">
              <a:rPr lang="ru-RU" smtClean="0"/>
              <a:t>25.11.2025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5F8C2334-90D3-4022-B54E-6F8ECF2BE1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CFEE0120-C784-4DD3-B8E5-34EB7B16F0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AE5F37-29E2-4458-82C1-2C291FE5A8E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511685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2937A1D-ABC2-4AAA-9643-C733BA9853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9438B48D-F4AC-4981-A27D-33B0B56E57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C09A54-4DF9-4EC3-B7B2-F195F9A44528}" type="datetimeFigureOut">
              <a:rPr lang="ru-RU" smtClean="0"/>
              <a:t>25.11.2025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071CE0BD-1087-40B5-B5CD-55202ADF7F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BBD00D03-DC78-4156-9931-5188732454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AE5F37-29E2-4458-82C1-2C291FE5A8E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750035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D1A7F829-9DDE-4FDE-9C0A-CBF868C6A0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C09A54-4DF9-4EC3-B7B2-F195F9A44528}" type="datetimeFigureOut">
              <a:rPr lang="ru-RU" smtClean="0"/>
              <a:t>25.11.2025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0B05894A-75BD-4FD2-8C5F-9BE8558AE6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838DAF36-5798-45E7-9743-E62709540A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AE5F37-29E2-4458-82C1-2C291FE5A8E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863293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7E3BAFA-921C-4759-986F-EBAFDE7990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616613F-C9E7-42AA-9CDB-171B306A97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88EADF9-236F-4360-BF6F-4ED27D24DC3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4D7FA22E-1F22-47B6-A92F-E06E429273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C09A54-4DF9-4EC3-B7B2-F195F9A44528}" type="datetimeFigureOut">
              <a:rPr lang="ru-RU" smtClean="0"/>
              <a:t>25.11.2025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76D9469-9A09-46B1-9724-672AA686C5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C0AD68C7-B85D-4510-9D93-1C18AB85CA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AE5F37-29E2-4458-82C1-2C291FE5A8E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195320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E6852E9-B1ED-4CE0-B315-2D218FFBDC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09F039F7-C892-4CEB-A10B-0874728C09C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A24E3D6-7EA8-48AD-893A-2C53F4A2B22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90EDF944-14A6-49C6-937C-3EFE183CF9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C09A54-4DF9-4EC3-B7B2-F195F9A44528}" type="datetimeFigureOut">
              <a:rPr lang="ru-RU" smtClean="0"/>
              <a:t>25.11.2025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F6FBBA7B-740C-4E52-8CDE-DDA4AD436D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291688F3-C4DC-415B-AA1A-A41C9A53F9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AE5F37-29E2-4458-82C1-2C291FE5A8E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100509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1968874-4EBE-4166-B8E5-98776DCF54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4B3ACF83-B161-4E6B-9017-E4059DF647C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5081D38-787D-4E56-B69F-39181C4FDE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C09A54-4DF9-4EC3-B7B2-F195F9A44528}" type="datetimeFigureOut">
              <a:rPr lang="ru-RU" smtClean="0"/>
              <a:t>25.11.2025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833FC8FA-A643-40A2-B192-64931ABAAD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C671A88-F2C5-4EA1-85EA-2A2C1F668C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AE5F37-29E2-4458-82C1-2C291FE5A8E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860952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3DF409BA-E031-4876-B974-C004E212B15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8B1724A4-1199-4908-8691-77D8EF983A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DC25FC3-CDB9-4E4E-9F27-08A097CC9F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C09A54-4DF9-4EC3-B7B2-F195F9A44528}" type="datetimeFigureOut">
              <a:rPr lang="ru-RU" smtClean="0"/>
              <a:t>25.11.2025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1632F2A-F520-45B2-8D46-551A5D19DA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506CBBE-B848-4B06-BA36-581CA62823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AE5F37-29E2-4458-82C1-2C291FE5A8E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70704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30D3774-D1C7-4BAD-851D-332ED2960A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568A4831-01F3-4F33-ACB0-A6EFA01F40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2D5FB821-3F15-4DAC-89B8-246B385A180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2C09A54-4DF9-4EC3-B7B2-F195F9A44528}" type="datetimeFigureOut">
              <a:rPr lang="ru-RU" smtClean="0"/>
              <a:t>25.11.2025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4EAB6EE-5A42-447F-8C38-EAAAB5A7855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6C4B008-BF5B-4BCC-B561-26FB5C64D2C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BAE5F37-29E2-4458-82C1-2C291FE5A8E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75714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svg"/><Relationship Id="rId5" Type="http://schemas.openxmlformats.org/officeDocument/2006/relationships/image" Target="../media/image20.png"/><Relationship Id="rId4" Type="http://schemas.openxmlformats.org/officeDocument/2006/relationships/image" Target="../media/image19.sv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Изображение пина-истории">
            <a:extLst>
              <a:ext uri="{FF2B5EF4-FFF2-40B4-BE49-F238E27FC236}">
                <a16:creationId xmlns:a16="http://schemas.microsoft.com/office/drawing/2014/main" id="{1B2E3497-004C-45F0-B9B4-B11767AD6E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2665590" y="-2665587"/>
            <a:ext cx="6860823" cy="1219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49DCE39-6E8B-4F22-88DF-31801DA7918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93239" y="1099071"/>
            <a:ext cx="11643648" cy="3018827"/>
          </a:xfrm>
        </p:spPr>
        <p:txBody>
          <a:bodyPr>
            <a:noAutofit/>
          </a:bodyPr>
          <a:lstStyle/>
          <a:p>
            <a:r>
              <a:rPr lang="ru-RU" sz="4400" dirty="0">
                <a:solidFill>
                  <a:schemeClr val="bg1"/>
                </a:solidFill>
                <a:latin typeface="Druk Wide Cyr" pitchFamily="2" charset="-52"/>
              </a:rPr>
              <a:t>Разработка подсистемы «СмартФикс. Учет заявок на ремонт»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8C0460C-CC69-4C61-B3DC-03FEE754568E}"/>
              </a:ext>
            </a:extLst>
          </p:cNvPr>
          <p:cNvSpPr txBox="1"/>
          <p:nvPr/>
        </p:nvSpPr>
        <p:spPr>
          <a:xfrm>
            <a:off x="-119063" y="216027"/>
            <a:ext cx="12430126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1050" dirty="0">
                <a:solidFill>
                  <a:schemeClr val="bg1"/>
                </a:solidFill>
                <a:latin typeface="Inter" panose="02000503000000020004" pitchFamily="50" charset="0"/>
                <a:ea typeface="Inter" panose="02000503000000020004" pitchFamily="50" charset="0"/>
                <a:cs typeface="Inter" panose="02000503000000020004" pitchFamily="50" charset="0"/>
              </a:rPr>
              <a:t>ФЕДЕРАЛЬНОЕ ГОСУДАРСТВЕННОЕ БЮДЖЕТНОЕ ОБРАЗОВАТЕЛЬНОЕ </a:t>
            </a:r>
            <a:br>
              <a:rPr lang="en-US" sz="1050" dirty="0">
                <a:solidFill>
                  <a:schemeClr val="bg1"/>
                </a:solidFill>
                <a:latin typeface="Inter" panose="02000503000000020004" pitchFamily="50" charset="0"/>
                <a:ea typeface="Inter" panose="02000503000000020004" pitchFamily="50" charset="0"/>
                <a:cs typeface="Inter" panose="02000503000000020004" pitchFamily="50" charset="0"/>
              </a:rPr>
            </a:br>
            <a:r>
              <a:rPr lang="ru-RU" sz="1050" dirty="0">
                <a:solidFill>
                  <a:schemeClr val="bg1"/>
                </a:solidFill>
                <a:latin typeface="Inter" panose="02000503000000020004" pitchFamily="50" charset="0"/>
                <a:ea typeface="Inter" panose="02000503000000020004" pitchFamily="50" charset="0"/>
                <a:cs typeface="Inter" panose="02000503000000020004" pitchFamily="50" charset="0"/>
              </a:rPr>
              <a:t>УЧРЕЖДЕНИЕ ВЫСШЕГО ОБРАЗОВАНИЯ </a:t>
            </a:r>
            <a:br>
              <a:rPr lang="en-US" sz="1050" dirty="0">
                <a:solidFill>
                  <a:schemeClr val="bg1"/>
                </a:solidFill>
                <a:latin typeface="Inter" panose="02000503000000020004" pitchFamily="50" charset="0"/>
                <a:ea typeface="Inter" panose="02000503000000020004" pitchFamily="50" charset="0"/>
                <a:cs typeface="Inter" panose="02000503000000020004" pitchFamily="50" charset="0"/>
              </a:rPr>
            </a:br>
            <a:r>
              <a:rPr lang="ru-RU" sz="1050" dirty="0">
                <a:solidFill>
                  <a:schemeClr val="bg1"/>
                </a:solidFill>
                <a:latin typeface="Inter" panose="02000503000000020004" pitchFamily="50" charset="0"/>
                <a:ea typeface="Inter" panose="02000503000000020004" pitchFamily="50" charset="0"/>
                <a:cs typeface="Inter" panose="02000503000000020004" pitchFamily="50" charset="0"/>
              </a:rPr>
              <a:t>«САНКТ-ПЕТЕРБУРГСКИЙ ГОСУДАРСТВЕННЫЙ УНИВЕРСИТЕТ </a:t>
            </a:r>
            <a:br>
              <a:rPr lang="en-US" sz="1050" dirty="0">
                <a:solidFill>
                  <a:schemeClr val="bg1"/>
                </a:solidFill>
                <a:latin typeface="Inter" panose="02000503000000020004" pitchFamily="50" charset="0"/>
                <a:ea typeface="Inter" panose="02000503000000020004" pitchFamily="50" charset="0"/>
                <a:cs typeface="Inter" panose="02000503000000020004" pitchFamily="50" charset="0"/>
              </a:rPr>
            </a:br>
            <a:r>
              <a:rPr lang="ru-RU" sz="1050" dirty="0">
                <a:solidFill>
                  <a:schemeClr val="bg1"/>
                </a:solidFill>
                <a:latin typeface="Inter" panose="02000503000000020004" pitchFamily="50" charset="0"/>
                <a:ea typeface="Inter" panose="02000503000000020004" pitchFamily="50" charset="0"/>
                <a:cs typeface="Inter" panose="02000503000000020004" pitchFamily="50" charset="0"/>
              </a:rPr>
              <a:t>ТЕЛЕКОММУНИКАЦИЙ ИМ. ПРОФ. М.А. БОНЧ-БРУЕВИЧА» (СПбГУТ) </a:t>
            </a:r>
            <a:br>
              <a:rPr lang="ru-RU" sz="1050" dirty="0">
                <a:solidFill>
                  <a:schemeClr val="bg1"/>
                </a:solidFill>
                <a:latin typeface="Inter" panose="02000503000000020004" pitchFamily="50" charset="0"/>
                <a:ea typeface="Inter" panose="02000503000000020004" pitchFamily="50" charset="0"/>
                <a:cs typeface="Inter" panose="02000503000000020004" pitchFamily="50" charset="0"/>
              </a:rPr>
            </a:br>
            <a:br>
              <a:rPr lang="ru-RU" sz="1050" dirty="0">
                <a:solidFill>
                  <a:schemeClr val="bg1"/>
                </a:solidFill>
                <a:latin typeface="Inter" panose="02000503000000020004" pitchFamily="50" charset="0"/>
                <a:ea typeface="Inter" panose="02000503000000020004" pitchFamily="50" charset="0"/>
                <a:cs typeface="Inter" panose="02000503000000020004" pitchFamily="50" charset="0"/>
              </a:rPr>
            </a:br>
            <a:r>
              <a:rPr lang="ru-RU" sz="1050" dirty="0">
                <a:solidFill>
                  <a:schemeClr val="bg1"/>
                </a:solidFill>
                <a:latin typeface="Inter" panose="02000503000000020004" pitchFamily="50" charset="0"/>
                <a:ea typeface="Inter" panose="02000503000000020004" pitchFamily="50" charset="0"/>
                <a:cs typeface="Inter" panose="02000503000000020004" pitchFamily="50" charset="0"/>
              </a:rPr>
              <a:t>АРХАНГЕЛЬСКИЙ КОЛЛЕДЖ ТЕЛЕКОММУНИКАЦИЙ </a:t>
            </a:r>
            <a:br>
              <a:rPr lang="ru-RU" sz="1050" dirty="0">
                <a:solidFill>
                  <a:schemeClr val="bg1"/>
                </a:solidFill>
                <a:latin typeface="Inter" panose="02000503000000020004" pitchFamily="50" charset="0"/>
                <a:ea typeface="Inter" panose="02000503000000020004" pitchFamily="50" charset="0"/>
                <a:cs typeface="Inter" panose="02000503000000020004" pitchFamily="50" charset="0"/>
              </a:rPr>
            </a:br>
            <a:r>
              <a:rPr lang="ru-RU" sz="1050" dirty="0">
                <a:solidFill>
                  <a:schemeClr val="bg1"/>
                </a:solidFill>
                <a:latin typeface="Inter" panose="02000503000000020004" pitchFamily="50" charset="0"/>
                <a:ea typeface="Inter" panose="02000503000000020004" pitchFamily="50" charset="0"/>
                <a:cs typeface="Inter" panose="02000503000000020004" pitchFamily="50" charset="0"/>
              </a:rPr>
              <a:t>ИМ. Б.Л. РОЗИНГА (ФИЛИАЛ) СПбГУТ </a:t>
            </a:r>
            <a:br>
              <a:rPr lang="ru-RU" sz="1050" dirty="0">
                <a:solidFill>
                  <a:schemeClr val="bg1"/>
                </a:solidFill>
                <a:latin typeface="Inter" panose="02000503000000020004" pitchFamily="50" charset="0"/>
                <a:ea typeface="Inter" panose="02000503000000020004" pitchFamily="50" charset="0"/>
                <a:cs typeface="Inter" panose="02000503000000020004" pitchFamily="50" charset="0"/>
              </a:rPr>
            </a:br>
            <a:r>
              <a:rPr lang="ru-RU" sz="1050" dirty="0">
                <a:solidFill>
                  <a:schemeClr val="bg1"/>
                </a:solidFill>
                <a:latin typeface="Inter" panose="02000503000000020004" pitchFamily="50" charset="0"/>
                <a:ea typeface="Inter" panose="02000503000000020004" pitchFamily="50" charset="0"/>
                <a:cs typeface="Inter" panose="02000503000000020004" pitchFamily="50" charset="0"/>
              </a:rPr>
              <a:t>(АКТ (ф) СПбГУТ)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C6FFE2F-ECA7-4AED-B662-7A08C153A59A}"/>
              </a:ext>
            </a:extLst>
          </p:cNvPr>
          <p:cNvSpPr txBox="1"/>
          <p:nvPr/>
        </p:nvSpPr>
        <p:spPr>
          <a:xfrm>
            <a:off x="930268" y="5000942"/>
            <a:ext cx="12430125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000" spc="-150" dirty="0">
                <a:solidFill>
                  <a:schemeClr val="bg1"/>
                </a:solidFill>
                <a:latin typeface="Inter" panose="02000503000000020004" pitchFamily="50" charset="0"/>
                <a:ea typeface="Inter" panose="02000503000000020004" pitchFamily="50" charset="0"/>
                <a:cs typeface="Inter" panose="02000503000000020004" pitchFamily="50" charset="0"/>
              </a:rPr>
              <a:t>Студент группы ИСПП-35: Фролова Мия Анатольевна</a:t>
            </a:r>
            <a:br>
              <a:rPr lang="ru-RU" sz="2000" spc="-150" dirty="0">
                <a:solidFill>
                  <a:schemeClr val="bg1"/>
                </a:solidFill>
                <a:latin typeface="Inter" panose="02000503000000020004" pitchFamily="50" charset="0"/>
                <a:ea typeface="Inter" panose="02000503000000020004" pitchFamily="50" charset="0"/>
                <a:cs typeface="Inter" panose="02000503000000020004" pitchFamily="50" charset="0"/>
              </a:rPr>
            </a:br>
            <a:r>
              <a:rPr lang="ru-RU" sz="2000" spc="-150" dirty="0">
                <a:solidFill>
                  <a:schemeClr val="bg1"/>
                </a:solidFill>
                <a:latin typeface="Inter" panose="02000503000000020004" pitchFamily="50" charset="0"/>
                <a:ea typeface="Inter" panose="02000503000000020004" pitchFamily="50" charset="0"/>
                <a:cs typeface="Inter" panose="02000503000000020004" pitchFamily="50" charset="0"/>
              </a:rPr>
              <a:t>Руководитель: Маломан Юлия Сергеевна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1D4DE2-9B7F-46F1-816F-F45D2434CB74}"/>
              </a:ext>
            </a:extLst>
          </p:cNvPr>
          <p:cNvSpPr txBox="1"/>
          <p:nvPr/>
        </p:nvSpPr>
        <p:spPr>
          <a:xfrm>
            <a:off x="5439804" y="6126691"/>
            <a:ext cx="6248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pc="-150" dirty="0">
                <a:solidFill>
                  <a:schemeClr val="bg1"/>
                </a:solidFill>
                <a:latin typeface="Inter" panose="02000503000000020004" pitchFamily="50" charset="0"/>
                <a:ea typeface="Inter" panose="02000503000000020004" pitchFamily="50" charset="0"/>
                <a:cs typeface="Inter" panose="02000503000000020004" pitchFamily="50" charset="0"/>
              </a:rPr>
              <a:t>Архангельск 2025</a:t>
            </a:r>
          </a:p>
        </p:txBody>
      </p:sp>
    </p:spTree>
    <p:extLst>
      <p:ext uri="{BB962C8B-B14F-4D97-AF65-F5344CB8AC3E}">
        <p14:creationId xmlns:p14="http://schemas.microsoft.com/office/powerpoint/2010/main" val="9183818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9EBA61E-5223-430A-9945-802F348D4B6B}"/>
              </a:ext>
            </a:extLst>
          </p:cNvPr>
          <p:cNvSpPr txBox="1"/>
          <p:nvPr/>
        </p:nvSpPr>
        <p:spPr>
          <a:xfrm>
            <a:off x="3302000" y="228600"/>
            <a:ext cx="93472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400" dirty="0">
                <a:latin typeface="Druk Wide Cyr" pitchFamily="2" charset="-52"/>
              </a:rPr>
              <a:t>Актуальность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87A33E39-DDDF-490F-9882-AF68309EC7D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3410" y="1512841"/>
            <a:ext cx="1295391" cy="1295391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BCBDC49C-4B97-44D5-9177-74E9C372E05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10128" y="4123526"/>
            <a:ext cx="1686335" cy="1686335"/>
          </a:xfrm>
          <a:prstGeom prst="rect">
            <a:avLst/>
          </a:prstGeom>
        </p:spPr>
      </p:pic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BDAB34DA-E55D-458C-8962-0C1E41CF265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92815" y="4420804"/>
            <a:ext cx="1389057" cy="1389057"/>
          </a:xfrm>
          <a:prstGeom prst="rect">
            <a:avLst/>
          </a:prstGeom>
        </p:spPr>
      </p:pic>
      <p:pic>
        <p:nvPicPr>
          <p:cNvPr id="22" name="Рисунок 21">
            <a:extLst>
              <a:ext uri="{FF2B5EF4-FFF2-40B4-BE49-F238E27FC236}">
                <a16:creationId xmlns:a16="http://schemas.microsoft.com/office/drawing/2014/main" id="{9CB3DABB-260D-4A63-BD0C-DC407620198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04944" y="1770016"/>
            <a:ext cx="1172583" cy="1172583"/>
          </a:xfrm>
          <a:prstGeom prst="rect">
            <a:avLst/>
          </a:prstGeom>
        </p:spPr>
      </p:pic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D0FB1666-9E93-4F90-9298-4B356065003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03568" y="1442231"/>
            <a:ext cx="1436609" cy="14366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69793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0EDD106-154F-46F1-AD93-80E1EF0E17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09800" y="0"/>
            <a:ext cx="10515600" cy="1325563"/>
          </a:xfrm>
        </p:spPr>
        <p:txBody>
          <a:bodyPr/>
          <a:lstStyle/>
          <a:p>
            <a:r>
              <a:rPr lang="ru-RU" dirty="0">
                <a:latin typeface="Druk Wide Cyr" pitchFamily="2" charset="-52"/>
              </a:rPr>
              <a:t>Целевая аудитория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3AD90791-7D35-4304-A614-85EC92CBA88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5673" y="1371411"/>
            <a:ext cx="1568436" cy="1568436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ADEE0C0F-C142-48A0-B07C-820CC210C74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55718" y="3429000"/>
            <a:ext cx="1867951" cy="1867951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13BA8D32-23F1-4F3B-9EC1-123E88D40AD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15733" y="1417259"/>
            <a:ext cx="2204133" cy="2204133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B3F34FDF-8625-494E-8573-D733019551F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38482" y="2985695"/>
            <a:ext cx="2070552" cy="20705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8083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8BE6E7F-9A26-47ED-8E84-70D9538F94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44494" y="0"/>
            <a:ext cx="2303011" cy="1325563"/>
          </a:xfrm>
        </p:spPr>
        <p:txBody>
          <a:bodyPr/>
          <a:lstStyle/>
          <a:p>
            <a:r>
              <a:rPr lang="ru-RU" dirty="0">
                <a:latin typeface="Druk Wide Cyr" pitchFamily="2" charset="-52"/>
              </a:rPr>
              <a:t>Цель</a:t>
            </a: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4FE72BA2-8B8F-4B27-9170-06422C87507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02897" y="1678722"/>
            <a:ext cx="3157656" cy="31576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55278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A48CB69-DF68-4FCB-8CD8-13A52CA7FD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17786" y="0"/>
            <a:ext cx="3356428" cy="1325563"/>
          </a:xfrm>
        </p:spPr>
        <p:txBody>
          <a:bodyPr/>
          <a:lstStyle/>
          <a:p>
            <a:r>
              <a:rPr lang="ru-RU" dirty="0">
                <a:latin typeface="Druk Wide Cyr" pitchFamily="2" charset="-52"/>
              </a:rPr>
              <a:t>Задачи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073C235E-E08F-420C-8AA8-C98AF87CE05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9859" y="1543440"/>
            <a:ext cx="1754284" cy="1754284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3CA9E3D9-DE9C-440D-9869-124E0864326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98161" y="1359970"/>
            <a:ext cx="1937754" cy="1937754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21A6F2C7-7F97-494E-B635-1B44110A22D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7917" y="1359970"/>
            <a:ext cx="1937754" cy="1937754"/>
          </a:xfrm>
          <a:prstGeom prst="rect">
            <a:avLst/>
          </a:prstGeom>
        </p:spPr>
      </p:pic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31E5B167-CDCB-4277-8152-A6830464F3A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24877" y="3912681"/>
            <a:ext cx="1892909" cy="1892909"/>
          </a:xfrm>
          <a:prstGeom prst="rect">
            <a:avLst/>
          </a:prstGeom>
        </p:spPr>
      </p:pic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86FE80AB-C947-45F1-B5C0-4734FCCDF2E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77808" y="3942075"/>
            <a:ext cx="1834119" cy="18341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04087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Объект 2">
            <a:extLst>
              <a:ext uri="{FF2B5EF4-FFF2-40B4-BE49-F238E27FC236}">
                <a16:creationId xmlns:a16="http://schemas.microsoft.com/office/drawing/2014/main" id="{628AD2B5-911B-44BC-AABE-BEE2E83701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9700" y="0"/>
            <a:ext cx="9372600" cy="1325563"/>
          </a:xfrm>
        </p:spPr>
        <p:txBody>
          <a:bodyPr/>
          <a:lstStyle/>
          <a:p>
            <a:r>
              <a:rPr lang="ru-RU" dirty="0">
                <a:latin typeface="Druk Wide Cyr" pitchFamily="2" charset="-52"/>
              </a:rPr>
              <a:t>Средства разработки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FA8DDACF-5821-4E48-9AE3-EEC83F94EF7D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0634" y="1173160"/>
            <a:ext cx="2103437" cy="2103437"/>
          </a:xfrm>
          <a:prstGeom prst="rect">
            <a:avLst/>
          </a:prstGeom>
        </p:spPr>
      </p:pic>
      <p:sp>
        <p:nvSpPr>
          <p:cNvPr id="8" name="AutoShape 2" descr="Aspnet Vector SVG Icon - SVG Repo">
            <a:extLst>
              <a:ext uri="{FF2B5EF4-FFF2-40B4-BE49-F238E27FC236}">
                <a16:creationId xmlns:a16="http://schemas.microsoft.com/office/drawing/2014/main" id="{9B29024C-0C28-4F67-9D22-6BD1A3C285D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599" y="3276599"/>
            <a:ext cx="2613171" cy="26131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0E45E5C2-0772-418F-A71B-7B48A926BE6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943599" y="2514196"/>
            <a:ext cx="2776559" cy="2776559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422EBDC7-F662-442D-9AEB-6410580F86B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988419" y="1091742"/>
            <a:ext cx="2266271" cy="2266271"/>
          </a:xfrm>
          <a:prstGeom prst="rect">
            <a:avLst/>
          </a:prstGeom>
        </p:spPr>
      </p:pic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448618E1-5997-4E1C-B53D-80F2EF1A198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6257" y="2737306"/>
            <a:ext cx="2330341" cy="23303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45590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F594C57-AD89-4003-840A-565288364C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9700" y="19050"/>
            <a:ext cx="9372600" cy="1325563"/>
          </a:xfrm>
        </p:spPr>
        <p:txBody>
          <a:bodyPr/>
          <a:lstStyle/>
          <a:p>
            <a:r>
              <a:rPr lang="ru-RU" dirty="0">
                <a:latin typeface="Druk Wide Cyr" pitchFamily="2" charset="-52"/>
              </a:rPr>
              <a:t>Архитектура системы </a:t>
            </a:r>
          </a:p>
        </p:txBody>
      </p:sp>
    </p:spTree>
    <p:extLst>
      <p:ext uri="{BB962C8B-B14F-4D97-AF65-F5344CB8AC3E}">
        <p14:creationId xmlns:p14="http://schemas.microsoft.com/office/powerpoint/2010/main" val="7989863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1787103-0B69-42AE-BF79-3B5C872F77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8528" y="0"/>
            <a:ext cx="9974943" cy="1325563"/>
          </a:xfrm>
        </p:spPr>
        <p:txBody>
          <a:bodyPr/>
          <a:lstStyle/>
          <a:p>
            <a:r>
              <a:rPr lang="ru-RU" dirty="0">
                <a:latin typeface="Druk Wide Cyr" pitchFamily="2" charset="-52"/>
              </a:rPr>
              <a:t>Преимущества проекта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DAF2EF86-7776-403E-A956-1A595DEA0F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7076" y="1412845"/>
            <a:ext cx="2076976" cy="20769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68547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C27295-DFA2-4AC0-AF7D-AF530C7D49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00425" y="0"/>
            <a:ext cx="5391150" cy="1325563"/>
          </a:xfrm>
        </p:spPr>
        <p:txBody>
          <a:bodyPr/>
          <a:lstStyle/>
          <a:p>
            <a:r>
              <a:rPr lang="ru-RU" dirty="0">
                <a:latin typeface="Druk Wide Cyr" pitchFamily="2" charset="-52"/>
              </a:rPr>
              <a:t>Заключение</a:t>
            </a:r>
          </a:p>
        </p:txBody>
      </p:sp>
    </p:spTree>
    <p:extLst>
      <p:ext uri="{BB962C8B-B14F-4D97-AF65-F5344CB8AC3E}">
        <p14:creationId xmlns:p14="http://schemas.microsoft.com/office/powerpoint/2010/main" val="740148578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181</TotalTime>
  <Words>90</Words>
  <Application>Microsoft Office PowerPoint</Application>
  <PresentationFormat>Широкоэкранный</PresentationFormat>
  <Paragraphs>12</Paragraphs>
  <Slides>9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9</vt:i4>
      </vt:variant>
    </vt:vector>
  </HeadingPairs>
  <TitlesOfParts>
    <vt:vector size="15" baseType="lpstr">
      <vt:lpstr>Arial</vt:lpstr>
      <vt:lpstr>Calibri</vt:lpstr>
      <vt:lpstr>Calibri Light</vt:lpstr>
      <vt:lpstr>Druk Wide Cyr</vt:lpstr>
      <vt:lpstr>Inter</vt:lpstr>
      <vt:lpstr>Тема Office</vt:lpstr>
      <vt:lpstr>Разработка подсистемы «СмартФикс. Учет заявок на ремонт»</vt:lpstr>
      <vt:lpstr>Презентация PowerPoint</vt:lpstr>
      <vt:lpstr>Целевая аудитория</vt:lpstr>
      <vt:lpstr>Цель</vt:lpstr>
      <vt:lpstr>Задачи</vt:lpstr>
      <vt:lpstr>Средства разработки</vt:lpstr>
      <vt:lpstr>Архитектура системы </vt:lpstr>
      <vt:lpstr>Преимущества проекта</vt:lpstr>
      <vt:lpstr>Заключение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ultrashitband@gmail.com</dc:creator>
  <cp:lastModifiedBy>ultrashitband@gmail.com</cp:lastModifiedBy>
  <cp:revision>16</cp:revision>
  <dcterms:created xsi:type="dcterms:W3CDTF">2025-11-25T17:24:45Z</dcterms:created>
  <dcterms:modified xsi:type="dcterms:W3CDTF">2025-11-25T20:26:10Z</dcterms:modified>
</cp:coreProperties>
</file>