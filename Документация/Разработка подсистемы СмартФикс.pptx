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5DD62C"/>
    <a:srgbClr val="202020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5940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6A8BC-2587-4C8F-AA68-D004FF037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1261523-A482-4EC2-A19E-86FB8F03ED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093062-2AC6-4D1E-B637-EC8C13C3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D3B71C-C86E-4C42-AB8C-9FD4CA4C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4ADD3-02FE-413C-AB0A-3E04493E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912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120E5-9706-440D-BD3A-B72B28E6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5AA542-2855-4092-86C1-59B5B3742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316924-6551-4283-A227-0DB72D02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427905-C2F0-4D01-8931-FADC89303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FB9463-C13C-4A6B-8571-A67E2FEBB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835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C3037-564F-4D95-960C-40FDDCD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5DBC2A-260E-4C17-A59F-D10221D62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727B0E-861D-4D37-902C-9169A687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910D-8FF2-46ED-9C99-44C7632F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D551E8-F990-45BD-99E5-9B1E5D3E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122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CBF716-622B-4CD8-A84F-E707DA8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C9C3D-9FCF-4DAE-B5F3-9276F4730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09DE47-03AE-4A5F-B823-E4F612BF4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53197-937A-4B50-A84E-EE8788B9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699078B-A647-4D19-BD1C-3EAED499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3AD43D-58FC-4DE7-97F6-9E885FE6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02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B537C-1312-4D39-B881-31F2DDEE1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ACE5E7-88C7-486F-8E09-9BB7A0AFA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EFF5B1-4878-4C3F-B10C-3AE700944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09840B-D962-46E9-A801-D7F7EE1CE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9F99963-DE1E-4A86-8E8C-D4F689808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E0E5A6-90FC-40F0-B77F-FF96B957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8C2334-90D3-4022-B54E-6F8ECF2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FEE0120-C784-4DD3-B8E5-34EB7B16F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16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937A1D-ABC2-4AAA-9643-C733BA98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38B48D-F4AC-4981-A27D-33B0B56E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1CE0BD-1087-40B5-B5CD-55202ADF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D00D03-DC78-4156-9931-5188732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003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A7F829-9DDE-4FDE-9C0A-CBF868C6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5894A-75BD-4FD2-8C5F-9BE8558A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8DAF36-5798-45E7-9743-E6270954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32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E3BAFA-921C-4759-986F-EBAFDE799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16613F-C9E7-42AA-9CDB-171B306A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8EADF9-236F-4360-BF6F-4ED27D24D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7FA22E-1F22-47B6-A92F-E06E4292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76D9469-9A09-46B1-9724-672AA686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AD68C7-B85D-4510-9D93-1C18AB85C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53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6852E9-B1ED-4CE0-B315-2D218FFB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9F039F7-C892-4CEB-A10B-0874728C09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A24E3D6-7EA8-48AD-893A-2C53F4A2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EDF944-14A6-49C6-937C-3EFE183C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FBBA7B-740C-4E52-8CDE-DDA4AD436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1688F3-C4DC-415B-AA1A-A41C9A53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50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68874-4EBE-4166-B8E5-98776DCF5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3ACF83-B161-4E6B-9017-E4059DF64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081D38-787D-4E56-B69F-39181C4F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FC8FA-A643-40A2-B192-64931ABA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671A88-F2C5-4EA1-85EA-2A2C1F668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609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F409BA-E031-4876-B974-C004E212B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1724A4-1199-4908-8691-77D8EF983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25FC3-CDB9-4E4E-9F27-08A097CC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F2A-F520-45B2-8D46-551A5D19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06CBBE-B848-4B06-BA36-581CA628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7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D3774-D1C7-4BAD-851D-332ED296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8A4831-01F3-4F33-ACB0-A6EFA01F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5FB821-3F15-4DAC-89B8-246B385A1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AB6EE-5A42-447F-8C38-EAAAB5A78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C4B008-BF5B-4BCC-B561-26FB5C64D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9DCE39-6E8B-4F22-88DF-31801DA7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8586" y="1009422"/>
            <a:ext cx="10794827" cy="3018827"/>
          </a:xfrm>
        </p:spPr>
        <p:txBody>
          <a:bodyPr>
            <a:noAutofit/>
          </a:bodyPr>
          <a:lstStyle/>
          <a:p>
            <a:r>
              <a:rPr lang="ru-RU" sz="4400" dirty="0">
                <a:solidFill>
                  <a:schemeClr val="bg1"/>
                </a:solidFill>
                <a:latin typeface="Druk Wide Cyr" pitchFamily="2" charset="-52"/>
              </a:rPr>
              <a:t>Разработка подсистемы «СмартФикс. Учет заявок на ремонт»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0460C-CC69-4C61-B3DC-03FEE754568E}"/>
              </a:ext>
            </a:extLst>
          </p:cNvPr>
          <p:cNvSpPr txBox="1"/>
          <p:nvPr/>
        </p:nvSpPr>
        <p:spPr>
          <a:xfrm>
            <a:off x="-119063" y="216027"/>
            <a:ext cx="124301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ФЕДЕРАЛЬНОЕ ГОСУДАРСТВЕННОЕ БЮДЖЕТНОЕ ОБРАЗОВАТЕЛЬНОЕ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УЧРЕЖДЕНИЕ ВЫСШЕГО ОБРАЗОВАНИЯ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«САНКТ-ПЕТЕРБУРГСКИЙ ГОСУДАРСТВЕННЫЙ УНИВЕРСИТЕТ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ТЕЛЕКОММУНИКАЦИЙ ИМ. ПРОФ. М.А. БОНЧ-БРУЕВИЧА» (СПбГУТ)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АРХАНГЕЛЬСКИЙ КОЛЛЕДЖ ТЕЛЕКОММУНИКАЦИЙ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ИМ. Б.Л. РОЗИНГА (ФИЛИАЛ) СПбГУТ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FFE2F-ECA7-4AED-B662-7A08C153A59A}"/>
              </a:ext>
            </a:extLst>
          </p:cNvPr>
          <p:cNvSpPr txBox="1"/>
          <p:nvPr/>
        </p:nvSpPr>
        <p:spPr>
          <a:xfrm>
            <a:off x="844392" y="4518057"/>
            <a:ext cx="76047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Студент группы ИСПП-35: Фролова Мия Анатольевна</a:t>
            </a:r>
            <a:br>
              <a:rPr lang="ru-RU" sz="2400" b="1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2400" b="1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Руководитель: </a:t>
            </a:r>
            <a:r>
              <a:rPr lang="ru-RU" sz="2400" b="1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Маломан</a:t>
            </a:r>
            <a:r>
              <a:rPr lang="ru-RU" sz="2400" b="1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 Юлия Сергеевна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D4DE2-9B7F-46F1-816F-F45D2434CB74}"/>
              </a:ext>
            </a:extLst>
          </p:cNvPr>
          <p:cNvSpPr txBox="1"/>
          <p:nvPr/>
        </p:nvSpPr>
        <p:spPr>
          <a:xfrm>
            <a:off x="5439804" y="6126691"/>
            <a:ext cx="624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91838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6821901" y="4104780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2469879" y="4040055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8891261" y="1420143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726053" y="1450338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11863" y="1446579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EBA61E-5223-430A-9945-802F348D4B6B}"/>
              </a:ext>
            </a:extLst>
          </p:cNvPr>
          <p:cNvSpPr txBox="1"/>
          <p:nvPr/>
        </p:nvSpPr>
        <p:spPr>
          <a:xfrm>
            <a:off x="3059387" y="176089"/>
            <a:ext cx="934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5DD62C"/>
                </a:solidFill>
                <a:latin typeface="Druk Wide Cyr" pitchFamily="2" charset="-52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8" y="3060028"/>
            <a:ext cx="241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Автоматизация</a:t>
            </a:r>
            <a: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учёта заявок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96503" y="2883561"/>
            <a:ext cx="2406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Взаимодействие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клиентов и мастеров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9143" y="2895105"/>
            <a:ext cx="2811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Упорядоченное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хранение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88737" y="5675777"/>
            <a:ext cx="2709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Проблема ручного ввода 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27184" y="5684563"/>
            <a:ext cx="313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Ускорение скорости обращений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950" y="1690435"/>
            <a:ext cx="1204670" cy="1204670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85" y="1580311"/>
            <a:ext cx="1340239" cy="1340239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31" y="1656605"/>
            <a:ext cx="1154384" cy="1154384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556" y="4219377"/>
            <a:ext cx="1319103" cy="1319103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045" y="4347246"/>
            <a:ext cx="1191234" cy="1191234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966979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DD106-154F-46F1-AD93-80E1EF0E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0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Целевая аудитория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AD90791-7D35-4304-A614-85EC92CBA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599" y="1593063"/>
            <a:ext cx="1568436" cy="156843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DEE0C0F-C142-48A0-B07C-820CC210C7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5718" y="3429000"/>
            <a:ext cx="1867951" cy="186795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3BA8D32-23F1-4F3B-9EC1-123E88D40A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5733" y="1417259"/>
            <a:ext cx="2204133" cy="220413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3F34FDF-8625-494E-8573-D733019551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482" y="2985695"/>
            <a:ext cx="2070552" cy="207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603871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E6E7F-9A26-47ED-8E84-70D9538F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3621" y="-1"/>
            <a:ext cx="2303011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Цель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9" y="766887"/>
            <a:ext cx="5456944" cy="5456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442" y="1017814"/>
            <a:ext cx="728280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6600" dirty="0">
              <a:solidFill>
                <a:srgbClr val="F8F8F8"/>
              </a:solidFill>
              <a:latin typeface="Montserrat" panose="000005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565753" y="1168293"/>
            <a:ext cx="6925296" cy="724636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6099855" y="1238848"/>
            <a:ext cx="6682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Druk Wide Cyr" pitchFamily="2" charset="-52"/>
              </a:rPr>
              <a:t>Разработка веб</a:t>
            </a:r>
            <a:r>
              <a:rPr lang="en-US" dirty="0" smtClean="0">
                <a:solidFill>
                  <a:schemeClr val="bg1"/>
                </a:solidFill>
                <a:latin typeface="Druk Wide Cyr" pitchFamily="2" charset="-52"/>
              </a:rPr>
              <a:t>-</a:t>
            </a:r>
            <a:r>
              <a:rPr lang="ru-RU" dirty="0" smtClean="0">
                <a:solidFill>
                  <a:schemeClr val="bg1"/>
                </a:solidFill>
                <a:latin typeface="Druk Wide Cyr" pitchFamily="2" charset="-52"/>
              </a:rPr>
              <a:t>приложения</a:t>
            </a:r>
            <a:r>
              <a:rPr lang="en-US" dirty="0" smtClean="0">
                <a:solidFill>
                  <a:schemeClr val="bg1"/>
                </a:solidFill>
                <a:latin typeface="Druk Wide Cyr" pitchFamily="2" charset="-52"/>
              </a:rPr>
              <a:t> c </a:t>
            </a:r>
            <a:br>
              <a:rPr lang="en-US" dirty="0" smtClean="0">
                <a:solidFill>
                  <a:schemeClr val="bg1"/>
                </a:solidFill>
                <a:latin typeface="Druk Wide Cyr" pitchFamily="2" charset="-52"/>
              </a:rPr>
            </a:br>
            <a:r>
              <a:rPr lang="ru-RU" dirty="0" smtClean="0">
                <a:solidFill>
                  <a:schemeClr val="bg1"/>
                </a:solidFill>
                <a:latin typeface="Druk Wide Cyr" pitchFamily="2" charset="-52"/>
              </a:rPr>
              <a:t>возможностями</a:t>
            </a:r>
            <a:r>
              <a:rPr lang="en-US" dirty="0" smtClean="0">
                <a:solidFill>
                  <a:schemeClr val="bg1"/>
                </a:solidFill>
                <a:latin typeface="Druk Wide Cyr" pitchFamily="2" charset="-52"/>
              </a:rPr>
              <a:t>:</a:t>
            </a:r>
            <a:endParaRPr lang="ru-RU" dirty="0">
              <a:solidFill>
                <a:schemeClr val="bg1"/>
              </a:solidFill>
              <a:latin typeface="Druk Wide Cyr" pitchFamily="2" charset="-5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880282" y="2097553"/>
            <a:ext cx="64291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Добавлять и редактировать заявки на ремонт</a:t>
            </a:r>
            <a:endParaRPr lang="ru-RU" sz="24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80282" y="3078759"/>
            <a:ext cx="5534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Управлять списком </a:t>
            </a:r>
            <a:r>
              <a:rPr lang="ru-RU" sz="2400" dirty="0">
                <a:solidFill>
                  <a:schemeClr val="bg1"/>
                </a:solidFill>
                <a:latin typeface="Montserrat" panose="00000500000000000000" pitchFamily="2" charset="-52"/>
              </a:rPr>
              <a:t>услуг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0282" y="3688429"/>
            <a:ext cx="6131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Фильтровать заявки по категориям</a:t>
            </a:r>
            <a:endParaRPr lang="ru-RU" sz="24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880281" y="4298099"/>
            <a:ext cx="67235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Просматривать детальную информацию о заказах</a:t>
            </a:r>
            <a:endParaRPr lang="ru-RU" sz="24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25126" y="5277101"/>
            <a:ext cx="5534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Формирование </a:t>
            </a:r>
            <a:r>
              <a:rPr lang="en-US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PDF-</a:t>
            </a:r>
            <a:r>
              <a:rPr lang="ru-RU" sz="24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отчётов</a:t>
            </a:r>
            <a:endParaRPr lang="ru-RU" sz="24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071" y="3119020"/>
            <a:ext cx="376339" cy="37633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071" y="2330434"/>
            <a:ext cx="376339" cy="37633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071" y="3730894"/>
            <a:ext cx="376339" cy="376339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071" y="4525427"/>
            <a:ext cx="376339" cy="376339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681" y="5319960"/>
            <a:ext cx="376339" cy="37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2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8CB69-DF68-4FCB-8CD8-13A52CA7F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7786" y="0"/>
            <a:ext cx="3356428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Задачи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3C235E-E08F-420C-8AA8-C98AF87CE0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859" y="1543440"/>
            <a:ext cx="1754284" cy="17542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CA9E3D9-DE9C-440D-9869-124E08643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161" y="1359970"/>
            <a:ext cx="1937754" cy="193775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1A6F2C7-7F97-494E-B635-1B44110A2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7917" y="1359970"/>
            <a:ext cx="1937754" cy="193775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1E5B167-CDCB-4277-8152-A6830464F3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877" y="3912681"/>
            <a:ext cx="1892909" cy="1892909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6FE80AB-C947-45F1-B5C0-4734FCCDF2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7808" y="3942075"/>
            <a:ext cx="1834119" cy="183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08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628AD2B5-911B-44BC-AABE-BEE2E83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100" y="-1905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Средства разработки</a:t>
            </a:r>
          </a:p>
        </p:txBody>
      </p:sp>
      <p:sp>
        <p:nvSpPr>
          <p:cNvPr id="8" name="AutoShape 2" descr="Aspnet Vector SVG Icon - SVG Repo">
            <a:extLst>
              <a:ext uri="{FF2B5EF4-FFF2-40B4-BE49-F238E27FC236}">
                <a16:creationId xmlns:a16="http://schemas.microsoft.com/office/drawing/2014/main" id="{9B29024C-0C28-4F67-9D22-6BD1A3C285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613171" cy="261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459152" y="2053086"/>
            <a:ext cx="2547524" cy="2794959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9082111" y="1091742"/>
            <a:ext cx="2547524" cy="5078186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512" y="1254126"/>
            <a:ext cx="1742315" cy="1742315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375" y="1325563"/>
            <a:ext cx="1708225" cy="17082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33" y="868010"/>
            <a:ext cx="2282947" cy="228294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701" y="3367484"/>
            <a:ext cx="238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</a:t>
            </a:r>
            <a:endParaRPr lang="ru-RU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771162" y="3334991"/>
            <a:ext cx="238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База данных</a:t>
            </a:r>
            <a:endParaRPr lang="ru-RU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19508" y="3196492"/>
            <a:ext cx="22240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Серверное приложение</a:t>
            </a:r>
            <a:endParaRPr lang="ru-RU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68860" y="3230876"/>
            <a:ext cx="2386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Графический</a:t>
            </a:r>
          </a:p>
          <a:p>
            <a:pPr algn="ctr"/>
            <a:r>
              <a:rPr lang="ru-RU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интерфейс</a:t>
            </a:r>
            <a:endParaRPr lang="ru-RU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6172691" y="1988200"/>
            <a:ext cx="2547524" cy="2794959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3234277" y="2053086"/>
            <a:ext cx="2547524" cy="2794959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987" y="1035661"/>
            <a:ext cx="1947643" cy="194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59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94C57-AD89-4003-840A-565288364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19050"/>
            <a:ext cx="937260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Архитектура системы </a:t>
            </a:r>
          </a:p>
        </p:txBody>
      </p:sp>
    </p:spTree>
    <p:extLst>
      <p:ext uri="{BB962C8B-B14F-4D97-AF65-F5344CB8AC3E}">
        <p14:creationId xmlns:p14="http://schemas.microsoft.com/office/powerpoint/2010/main" val="798986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7103-0B69-42AE-BF79-3B5C872F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528" y="0"/>
            <a:ext cx="9974943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Преимущества проекта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AF2EF86-7776-403E-A956-1A595DEA0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76" y="1412845"/>
            <a:ext cx="2076976" cy="2076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5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27295-DFA2-4AC0-AF7D-AF530C7D4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425" y="0"/>
            <a:ext cx="539115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7401485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78</Words>
  <Application>Microsoft Office PowerPoint</Application>
  <PresentationFormat>Широкоэкранный</PresentationFormat>
  <Paragraphs>28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Druk Wide Cyr</vt:lpstr>
      <vt:lpstr>Inter</vt:lpstr>
      <vt:lpstr>Montserrat</vt:lpstr>
      <vt:lpstr>Montserrat Light</vt:lpstr>
      <vt:lpstr>Тема Office</vt:lpstr>
      <vt:lpstr>Разработка подсистемы «СмартФикс. Учет заявок на ремонт»</vt:lpstr>
      <vt:lpstr>Презентация PowerPoint</vt:lpstr>
      <vt:lpstr>Целевая аудитория</vt:lpstr>
      <vt:lpstr>Цель</vt:lpstr>
      <vt:lpstr>Задачи</vt:lpstr>
      <vt:lpstr>Средства разработки</vt:lpstr>
      <vt:lpstr>Архитектура системы </vt:lpstr>
      <vt:lpstr>Преимущества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ultrashitband@gmail.com</dc:creator>
  <cp:lastModifiedBy>0109-12</cp:lastModifiedBy>
  <cp:revision>34</cp:revision>
  <dcterms:created xsi:type="dcterms:W3CDTF">2025-11-25T17:24:45Z</dcterms:created>
  <dcterms:modified xsi:type="dcterms:W3CDTF">2025-11-26T13:00:12Z</dcterms:modified>
</cp:coreProperties>
</file>