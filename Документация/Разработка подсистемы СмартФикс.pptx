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5DD62C"/>
    <a:srgbClr val="202020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5476" autoAdjust="0"/>
  </p:normalViewPr>
  <p:slideViewPr>
    <p:cSldViewPr snapToGrid="0">
      <p:cViewPr>
        <p:scale>
          <a:sx n="80" d="100"/>
          <a:sy n="80" d="100"/>
        </p:scale>
        <p:origin x="3426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86A8BC-2587-4C8F-AA68-D004FF037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1261523-A482-4EC2-A19E-86FB8F03E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093062-2AC6-4D1E-B637-EC8C13C37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9A54-4DF9-4EC3-B7B2-F195F9A4452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D3B71C-C86E-4C42-AB8C-9FD4CA4C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F4ADD3-02FE-413C-AB0A-3E04493EC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E5F37-29E2-4458-82C1-2C291FE5A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912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A120E5-9706-440D-BD3A-B72B28E64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5AA542-2855-4092-86C1-59B5B3742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316924-6551-4283-A227-0DB72D02F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9A54-4DF9-4EC3-B7B2-F195F9A4452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427905-C2F0-4D01-8931-FADC89303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FB9463-C13C-4A6B-8571-A67E2FEBB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E5F37-29E2-4458-82C1-2C291FE5A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4835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8C3037-564F-4D95-960C-40FDDCD3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5DBC2A-260E-4C17-A59F-D10221D62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727B0E-861D-4D37-902C-9169A687A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9A54-4DF9-4EC3-B7B2-F195F9A4452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1E910D-8FF2-46ED-9C99-44C7632F0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D551E8-F990-45BD-99E5-9B1E5D3E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E5F37-29E2-4458-82C1-2C291FE5A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8122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CBF716-622B-4CD8-A84F-E707DA88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3C9C3D-9FCF-4DAE-B5F3-9276F4730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09DE47-03AE-4A5F-B823-E4F612BF4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553197-937A-4B50-A84E-EE8788B95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9A54-4DF9-4EC3-B7B2-F195F9A4452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99078B-A647-4D19-BD1C-3EAED499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3AD43D-58FC-4DE7-97F6-9E885FE60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E5F37-29E2-4458-82C1-2C291FE5A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025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B537C-1312-4D39-B881-31F2DDEE1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ACE5E7-88C7-486F-8E09-9BB7A0AFA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EFF5B1-4878-4C3F-B10C-3AE700944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09840B-D962-46E9-A801-D7F7EE1CE1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9F99963-DE1E-4A86-8E8C-D4F6898084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7E0E5A6-90FC-40F0-B77F-FF96B957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9A54-4DF9-4EC3-B7B2-F195F9A4452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F8C2334-90D3-4022-B54E-6F8ECF2B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FEE0120-C784-4DD3-B8E5-34EB7B16F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E5F37-29E2-4458-82C1-2C291FE5A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16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937A1D-ABC2-4AAA-9643-C733BA98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438B48D-F4AC-4981-A27D-33B0B56E5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9A54-4DF9-4EC3-B7B2-F195F9A4452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1CE0BD-1087-40B5-B5CD-55202ADF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D00D03-DC78-4156-9931-51887324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E5F37-29E2-4458-82C1-2C291FE5A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00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1A7F829-9DDE-4FDE-9C0A-CBF868C6A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9A54-4DF9-4EC3-B7B2-F195F9A4452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05894A-75BD-4FD2-8C5F-9BE8558A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8DAF36-5798-45E7-9743-E6270954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E5F37-29E2-4458-82C1-2C291FE5A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32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E3BAFA-921C-4759-986F-EBAFDE799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16613F-C9E7-42AA-9CDB-171B306A9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8EADF9-236F-4360-BF6F-4ED27D24D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7FA22E-1F22-47B6-A92F-E06E42927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9A54-4DF9-4EC3-B7B2-F195F9A4452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6D9469-9A09-46B1-9724-672AA686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AD68C7-B85D-4510-9D93-1C18AB85C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E5F37-29E2-4458-82C1-2C291FE5A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532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852E9-B1ED-4CE0-B315-2D218FFBD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9F039F7-C892-4CEB-A10B-0874728C0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A24E3D6-7EA8-48AD-893A-2C53F4A2B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EDF944-14A6-49C6-937C-3EFE183CF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9A54-4DF9-4EC3-B7B2-F195F9A4452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FBBA7B-740C-4E52-8CDE-DDA4AD436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1688F3-C4DC-415B-AA1A-A41C9A53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E5F37-29E2-4458-82C1-2C291FE5A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050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968874-4EBE-4166-B8E5-98776DCF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3ACF83-B161-4E6B-9017-E4059DF64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081D38-787D-4E56-B69F-39181C4FD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9A54-4DF9-4EC3-B7B2-F195F9A4452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3FC8FA-A643-40A2-B192-64931ABAA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671A88-F2C5-4EA1-85EA-2A2C1F668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E5F37-29E2-4458-82C1-2C291FE5A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095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DF409BA-E031-4876-B974-C004E212B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1724A4-1199-4908-8691-77D8EF983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C25FC3-CDB9-4E4E-9F27-08A097CC9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9A54-4DF9-4EC3-B7B2-F195F9A4452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632F2A-F520-45B2-8D46-551A5D19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06CBBE-B848-4B06-BA36-581CA628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E5F37-29E2-4458-82C1-2C291FE5A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7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0D3774-D1C7-4BAD-851D-332ED2960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8A4831-01F3-4F33-ACB0-A6EFA01F4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5FB821-3F15-4DAC-89B8-246B385A1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09A54-4DF9-4EC3-B7B2-F195F9A44528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EAB6EE-5A42-447F-8C38-EAAAB5A78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C4B008-BF5B-4BCC-B561-26FB5C64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E5F37-29E2-4458-82C1-2C291FE5A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71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9DCE39-6E8B-4F22-88DF-31801DA79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586" y="1009422"/>
            <a:ext cx="10794827" cy="3018827"/>
          </a:xfrm>
        </p:spPr>
        <p:txBody>
          <a:bodyPr>
            <a:no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Druk Wide Cyr" pitchFamily="2" charset="-52"/>
              </a:rPr>
              <a:t>Разработка подсистемы «СмартФикс. Учет заявок на ремонт»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0460C-CC69-4C61-B3DC-03FEE754568E}"/>
              </a:ext>
            </a:extLst>
          </p:cNvPr>
          <p:cNvSpPr txBox="1"/>
          <p:nvPr/>
        </p:nvSpPr>
        <p:spPr>
          <a:xfrm>
            <a:off x="-119063" y="216027"/>
            <a:ext cx="124301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ФЕДЕРАЛЬНОЕ ГОСУДАРСТВЕННОЕ БЮДЖЕТНОЕ ОБРАЗОВАТЕЛЬНОЕ </a:t>
            </a:r>
            <a:r>
              <a:rPr lang="en-US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/>
            </a:r>
            <a:br>
              <a:rPr lang="en-US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</a:br>
            <a:r>
              <a:rPr lang="ru-RU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УЧРЕЖДЕНИЕ ВЫСШЕГО ОБРАЗОВАНИЯ </a:t>
            </a:r>
            <a:r>
              <a:rPr lang="en-US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/>
            </a:r>
            <a:br>
              <a:rPr lang="en-US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</a:br>
            <a:r>
              <a:rPr lang="ru-RU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«САНКТ-ПЕТЕРБУРГСКИЙ ГОСУДАРСТВЕННЫЙ УНИВЕРСИТЕТ </a:t>
            </a:r>
            <a:r>
              <a:rPr lang="en-US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/>
            </a:r>
            <a:br>
              <a:rPr lang="en-US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</a:br>
            <a:r>
              <a:rPr lang="ru-RU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ТЕЛЕКОММУНИКАЦИЙ ИМ. ПРОФ. М.А. БОНЧ-БРУЕВИЧА» (СПбГУТ) </a:t>
            </a:r>
            <a:br>
              <a:rPr lang="ru-RU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</a:br>
            <a:r>
              <a:rPr lang="ru-RU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/>
            </a:r>
            <a:br>
              <a:rPr lang="ru-RU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</a:br>
            <a:r>
              <a:rPr lang="ru-RU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АРХАНГЕЛЬСКИЙ КОЛЛЕДЖ ТЕЛЕКОММУНИКАЦИЙ </a:t>
            </a:r>
            <a:br>
              <a:rPr lang="ru-RU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</a:br>
            <a:r>
              <a:rPr lang="ru-RU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ИМ. Б.Л. РОЗИНГА (ФИЛИАЛ) СПбГУТ </a:t>
            </a:r>
            <a:br>
              <a:rPr lang="ru-RU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</a:br>
            <a:r>
              <a:rPr lang="ru-RU" sz="10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(АКТ (ф) СПбГУТ)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FFE2F-ECA7-4AED-B662-7A08C153A59A}"/>
              </a:ext>
            </a:extLst>
          </p:cNvPr>
          <p:cNvSpPr txBox="1"/>
          <p:nvPr/>
        </p:nvSpPr>
        <p:spPr>
          <a:xfrm>
            <a:off x="698586" y="4661971"/>
            <a:ext cx="86552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spc="-150" dirty="0">
                <a:solidFill>
                  <a:schemeClr val="bg1"/>
                </a:solidFill>
                <a:latin typeface="Montserrat Light" pitchFamily="2" charset="-52"/>
                <a:ea typeface="Inter" panose="02000503000000020004" pitchFamily="50" charset="0"/>
                <a:cs typeface="Inter" panose="02000503000000020004" pitchFamily="50" charset="0"/>
              </a:rPr>
              <a:t>Студент группы ИСПП-35: Фролова Мия Анатольевна</a:t>
            </a:r>
            <a:br>
              <a:rPr lang="ru-RU" sz="2400" spc="-150" dirty="0">
                <a:solidFill>
                  <a:schemeClr val="bg1"/>
                </a:solidFill>
                <a:latin typeface="Montserrat Light" pitchFamily="2" charset="-52"/>
                <a:ea typeface="Inter" panose="02000503000000020004" pitchFamily="50" charset="0"/>
                <a:cs typeface="Inter" panose="02000503000000020004" pitchFamily="50" charset="0"/>
              </a:rPr>
            </a:br>
            <a:r>
              <a:rPr lang="ru-RU" sz="2400" spc="-150" dirty="0">
                <a:solidFill>
                  <a:schemeClr val="bg1"/>
                </a:solidFill>
                <a:latin typeface="Montserrat Light" pitchFamily="2" charset="-52"/>
                <a:ea typeface="Inter" panose="02000503000000020004" pitchFamily="50" charset="0"/>
                <a:cs typeface="Inter" panose="02000503000000020004" pitchFamily="50" charset="0"/>
              </a:rPr>
              <a:t>Руководитель: </a:t>
            </a:r>
            <a:r>
              <a:rPr lang="ru-RU" sz="2400" dirty="0">
                <a:solidFill>
                  <a:schemeClr val="bg1"/>
                </a:solidFill>
                <a:latin typeface="Montserrat Light" pitchFamily="2" charset="-52"/>
                <a:ea typeface="Inter" panose="02000503000000020004" pitchFamily="50" charset="0"/>
                <a:cs typeface="Inter" panose="02000503000000020004" pitchFamily="50" charset="0"/>
              </a:rPr>
              <a:t>Маломан</a:t>
            </a:r>
            <a:r>
              <a:rPr lang="ru-RU" sz="2400" spc="-150" dirty="0">
                <a:solidFill>
                  <a:schemeClr val="bg1"/>
                </a:solidFill>
                <a:latin typeface="Montserrat Light" pitchFamily="2" charset="-52"/>
                <a:ea typeface="Inter" panose="02000503000000020004" pitchFamily="50" charset="0"/>
                <a:cs typeface="Inter" panose="02000503000000020004" pitchFamily="50" charset="0"/>
              </a:rPr>
              <a:t> Юлия Сергеевна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D4DE2-9B7F-46F1-816F-F45D2434CB74}"/>
              </a:ext>
            </a:extLst>
          </p:cNvPr>
          <p:cNvSpPr txBox="1"/>
          <p:nvPr/>
        </p:nvSpPr>
        <p:spPr>
          <a:xfrm>
            <a:off x="5439804" y="6126691"/>
            <a:ext cx="624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pc="-150" dirty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Архангельск 2025</a:t>
            </a:r>
          </a:p>
        </p:txBody>
      </p:sp>
    </p:spTree>
    <p:extLst>
      <p:ext uri="{BB962C8B-B14F-4D97-AF65-F5344CB8AC3E}">
        <p14:creationId xmlns:p14="http://schemas.microsoft.com/office/powerpoint/2010/main" val="91838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Скругленный прямоугольник 24"/>
          <p:cNvSpPr/>
          <p:nvPr/>
        </p:nvSpPr>
        <p:spPr>
          <a:xfrm>
            <a:off x="6821901" y="4104780"/>
            <a:ext cx="2547524" cy="2419350"/>
          </a:xfrm>
          <a:prstGeom prst="roundRect">
            <a:avLst/>
          </a:prstGeom>
          <a:solidFill>
            <a:srgbClr val="202020"/>
          </a:solidFill>
          <a:ln w="28575">
            <a:solidFill>
              <a:srgbClr val="5DD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2469879" y="4040055"/>
            <a:ext cx="2547524" cy="2419350"/>
          </a:xfrm>
          <a:prstGeom prst="roundRect">
            <a:avLst/>
          </a:prstGeom>
          <a:solidFill>
            <a:srgbClr val="202020"/>
          </a:solidFill>
          <a:ln w="28575">
            <a:solidFill>
              <a:srgbClr val="5DD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8891261" y="1420143"/>
            <a:ext cx="2547524" cy="2419350"/>
          </a:xfrm>
          <a:prstGeom prst="roundRect">
            <a:avLst/>
          </a:prstGeom>
          <a:solidFill>
            <a:srgbClr val="202020"/>
          </a:solidFill>
          <a:ln w="28575">
            <a:solidFill>
              <a:srgbClr val="5DD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4726053" y="1450338"/>
            <a:ext cx="2547524" cy="2419350"/>
          </a:xfrm>
          <a:prstGeom prst="roundRect">
            <a:avLst/>
          </a:prstGeom>
          <a:solidFill>
            <a:srgbClr val="202020"/>
          </a:solidFill>
          <a:ln w="28575">
            <a:solidFill>
              <a:srgbClr val="5DD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11863" y="1446579"/>
            <a:ext cx="2547524" cy="2419350"/>
          </a:xfrm>
          <a:prstGeom prst="roundRect">
            <a:avLst/>
          </a:prstGeom>
          <a:solidFill>
            <a:srgbClr val="202020"/>
          </a:solidFill>
          <a:ln w="28575">
            <a:solidFill>
              <a:srgbClr val="5DD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EBA61E-5223-430A-9945-802F348D4B6B}"/>
              </a:ext>
            </a:extLst>
          </p:cNvPr>
          <p:cNvSpPr txBox="1"/>
          <p:nvPr/>
        </p:nvSpPr>
        <p:spPr>
          <a:xfrm>
            <a:off x="3059387" y="176089"/>
            <a:ext cx="934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rgbClr val="5DD62C"/>
                </a:solidFill>
                <a:latin typeface="Druk Wide Cyr" pitchFamily="2" charset="-52"/>
              </a:rPr>
              <a:t>Актуальность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1028" y="3060028"/>
            <a:ext cx="241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Автоматизация</a:t>
            </a:r>
            <a:r>
              <a:rPr lang="en-US" dirty="0" smtClean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</a:br>
            <a:r>
              <a:rPr lang="ru-RU" dirty="0" smtClean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учёта заявок</a:t>
            </a:r>
            <a:endParaRPr lang="ru-RU" dirty="0">
              <a:solidFill>
                <a:schemeClr val="bg1"/>
              </a:solidFill>
              <a:latin typeface="Montserrat Light" panose="00000400000000000000" pitchFamily="2" charset="-52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96503" y="2883561"/>
            <a:ext cx="2406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Взаимодействие</a:t>
            </a:r>
            <a:br>
              <a:rPr lang="ru-RU" dirty="0" smtClean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</a:br>
            <a:r>
              <a:rPr lang="ru-RU" dirty="0" smtClean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клиентов и мастеров</a:t>
            </a:r>
            <a:endParaRPr lang="ru-RU" dirty="0">
              <a:solidFill>
                <a:schemeClr val="bg1"/>
              </a:solidFill>
              <a:latin typeface="Montserrat Light" panose="00000400000000000000" pitchFamily="2" charset="-52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59143" y="2895105"/>
            <a:ext cx="2811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Упорядоченное</a:t>
            </a:r>
            <a:br>
              <a:rPr lang="ru-RU" dirty="0" smtClean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</a:br>
            <a:r>
              <a:rPr lang="ru-RU" dirty="0" smtClean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хранение</a:t>
            </a:r>
            <a:br>
              <a:rPr lang="ru-RU" dirty="0" smtClean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</a:br>
            <a:r>
              <a:rPr lang="ru-RU" dirty="0" smtClean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данных</a:t>
            </a:r>
            <a:endParaRPr lang="ru-RU" dirty="0">
              <a:solidFill>
                <a:schemeClr val="bg1"/>
              </a:solidFill>
              <a:latin typeface="Montserrat Light" panose="00000400000000000000" pitchFamily="2" charset="-52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8737" y="5675777"/>
            <a:ext cx="2709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Проблема ручного ввода данных</a:t>
            </a:r>
            <a:endParaRPr lang="ru-RU" dirty="0">
              <a:solidFill>
                <a:schemeClr val="bg1"/>
              </a:solidFill>
              <a:latin typeface="Montserrat Light" panose="00000400000000000000" pitchFamily="2" charset="-52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27184" y="5684563"/>
            <a:ext cx="3136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Montserrat Light" panose="00000400000000000000" pitchFamily="2" charset="-52"/>
                <a:ea typeface="Inter" panose="02000503000000020004" pitchFamily="50" charset="0"/>
                <a:cs typeface="Inter" panose="02000503000000020004" pitchFamily="50" charset="0"/>
              </a:rPr>
              <a:t>Ускорение скорости обращений</a:t>
            </a:r>
            <a:endParaRPr lang="ru-RU" dirty="0">
              <a:solidFill>
                <a:schemeClr val="bg1"/>
              </a:solidFill>
              <a:latin typeface="Montserrat Light" panose="00000400000000000000" pitchFamily="2" charset="-52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50" y="1690435"/>
            <a:ext cx="1204670" cy="1204670"/>
          </a:xfrm>
          <a:prstGeom prst="rect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985" y="1580311"/>
            <a:ext cx="1340239" cy="1340239"/>
          </a:xfrm>
          <a:prstGeom prst="rect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831" y="1656605"/>
            <a:ext cx="1154384" cy="1154384"/>
          </a:xfrm>
          <a:prstGeom prst="rect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556" y="4219377"/>
            <a:ext cx="1319103" cy="1319103"/>
          </a:xfrm>
          <a:prstGeom prst="rect">
            <a:avLst/>
          </a:prstGeom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045" y="4347246"/>
            <a:ext cx="1191234" cy="1191234"/>
          </a:xfrm>
          <a:prstGeom prst="rect">
            <a:avLst/>
          </a:prstGeom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96697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EDD106-154F-46F1-AD93-80E1EF0E1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0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5DD62C"/>
                </a:solidFill>
                <a:latin typeface="Druk Wide Cyr" pitchFamily="2" charset="-52"/>
              </a:rPr>
              <a:t>Целевая аудитория</a:t>
            </a:r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523003" y="3731186"/>
            <a:ext cx="3249756" cy="1360270"/>
          </a:xfrm>
          <a:prstGeom prst="roundRect">
            <a:avLst/>
          </a:prstGeom>
          <a:solidFill>
            <a:srgbClr val="202020"/>
          </a:solidFill>
          <a:ln w="28575">
            <a:solidFill>
              <a:srgbClr val="5DD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9" t="2329" r="17982" b="43446"/>
          <a:stretch/>
        </p:blipFill>
        <p:spPr>
          <a:xfrm>
            <a:off x="416527" y="1177906"/>
            <a:ext cx="3332409" cy="3605350"/>
          </a:xfrm>
          <a:prstGeom prst="rect">
            <a:avLst/>
          </a:prstGeom>
        </p:spPr>
      </p:pic>
      <p:sp>
        <p:nvSpPr>
          <p:cNvPr id="24" name="Скругленный прямоугольник 23"/>
          <p:cNvSpPr/>
          <p:nvPr/>
        </p:nvSpPr>
        <p:spPr>
          <a:xfrm>
            <a:off x="4614545" y="3653952"/>
            <a:ext cx="3249756" cy="1437504"/>
          </a:xfrm>
          <a:prstGeom prst="roundRect">
            <a:avLst/>
          </a:prstGeom>
          <a:solidFill>
            <a:srgbClr val="202020"/>
          </a:solidFill>
          <a:ln w="28575">
            <a:solidFill>
              <a:srgbClr val="5DD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410" y="1325563"/>
            <a:ext cx="4349680" cy="2896491"/>
          </a:xfrm>
          <a:prstGeom prst="rect">
            <a:avLst/>
          </a:prstGeom>
        </p:spPr>
      </p:pic>
      <p:sp>
        <p:nvSpPr>
          <p:cNvPr id="25" name="Скругленный прямоугольник 24"/>
          <p:cNvSpPr/>
          <p:nvPr/>
        </p:nvSpPr>
        <p:spPr>
          <a:xfrm>
            <a:off x="8506426" y="3608772"/>
            <a:ext cx="3249756" cy="1482684"/>
          </a:xfrm>
          <a:prstGeom prst="roundRect">
            <a:avLst/>
          </a:prstGeom>
          <a:solidFill>
            <a:srgbClr val="202020"/>
          </a:solidFill>
          <a:ln w="28575">
            <a:solidFill>
              <a:srgbClr val="5DD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952" y="361683"/>
            <a:ext cx="4043048" cy="42109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2095" y="4088156"/>
            <a:ext cx="278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>
                <a:solidFill>
                  <a:srgbClr val="F8F8F8"/>
                </a:solidFill>
                <a:latin typeface="Montserrat" pitchFamily="2" charset="-52"/>
              </a:rPr>
              <a:t>Мастера по ремонту цифровой техники</a:t>
            </a:r>
            <a:endParaRPr lang="ru-RU" dirty="0">
              <a:solidFill>
                <a:srgbClr val="F8F8F8"/>
              </a:solidFill>
              <a:latin typeface="Montserrat" pitchFamily="2" charset="-5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03653" y="4136925"/>
            <a:ext cx="2657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F8F8F8"/>
                </a:solidFill>
                <a:latin typeface="Montserrat" pitchFamily="2" charset="-52"/>
              </a:rPr>
              <a:t>Администраторы</a:t>
            </a:r>
            <a:br>
              <a:rPr lang="ru-RU" dirty="0" smtClean="0">
                <a:solidFill>
                  <a:srgbClr val="F8F8F8"/>
                </a:solidFill>
                <a:latin typeface="Montserrat" pitchFamily="2" charset="-52"/>
              </a:rPr>
            </a:br>
            <a:r>
              <a:rPr lang="ru-RU" dirty="0" smtClean="0">
                <a:solidFill>
                  <a:srgbClr val="F8F8F8"/>
                </a:solidFill>
                <a:latin typeface="Montserrat" pitchFamily="2" charset="-52"/>
              </a:rPr>
              <a:t>сервисного центра</a:t>
            </a:r>
            <a:endParaRPr lang="ru-RU" dirty="0">
              <a:solidFill>
                <a:srgbClr val="F8F8F8"/>
              </a:solidFill>
              <a:latin typeface="Montserrat" pitchFamily="2" charset="-5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97521" y="4226655"/>
            <a:ext cx="278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F8F8F8"/>
                </a:solidFill>
                <a:latin typeface="Montserrat" pitchFamily="2" charset="-52"/>
              </a:rPr>
              <a:t>Клиенты</a:t>
            </a:r>
            <a:endParaRPr lang="ru-RU" dirty="0">
              <a:solidFill>
                <a:srgbClr val="F8F8F8"/>
              </a:solidFill>
              <a:latin typeface="Montserra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80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74"/>
          <a:stretch/>
        </p:blipFill>
        <p:spPr>
          <a:xfrm rot="10800000">
            <a:off x="-14515" y="0"/>
            <a:ext cx="12206513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E6E7F-9A26-47ED-8E84-70D9538F9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3621" y="-1"/>
            <a:ext cx="2303011" cy="1325563"/>
          </a:xfrm>
        </p:spPr>
        <p:txBody>
          <a:bodyPr/>
          <a:lstStyle/>
          <a:p>
            <a:r>
              <a:rPr lang="ru-RU" dirty="0">
                <a:solidFill>
                  <a:srgbClr val="5DD62C"/>
                </a:solidFill>
                <a:latin typeface="Druk Wide Cyr" pitchFamily="2" charset="-52"/>
              </a:rPr>
              <a:t>Цель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9" y="700528"/>
            <a:ext cx="5456944" cy="54569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71442" y="1017814"/>
            <a:ext cx="72828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6600" dirty="0">
              <a:solidFill>
                <a:srgbClr val="F8F8F8"/>
              </a:solidFill>
              <a:latin typeface="Montserrat" panose="00000500000000000000" pitchFamily="2" charset="-52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565753" y="1168293"/>
            <a:ext cx="6175691" cy="724636"/>
          </a:xfrm>
          <a:prstGeom prst="roundRect">
            <a:avLst/>
          </a:prstGeom>
          <a:solidFill>
            <a:srgbClr val="202020"/>
          </a:solidFill>
          <a:ln w="28575">
            <a:solidFill>
              <a:srgbClr val="5DD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5863574" y="1325457"/>
            <a:ext cx="6682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  <a:latin typeface="Druk Wide Cyr" pitchFamily="2" charset="-52"/>
              </a:rPr>
              <a:t>Разработка веб</a:t>
            </a:r>
            <a:r>
              <a:rPr lang="en-US" sz="2000" dirty="0" smtClean="0">
                <a:solidFill>
                  <a:schemeClr val="bg1"/>
                </a:solidFill>
                <a:latin typeface="Druk Wide Cyr" pitchFamily="2" charset="-52"/>
              </a:rPr>
              <a:t>-</a:t>
            </a:r>
            <a:r>
              <a:rPr lang="ru-RU" sz="2000" dirty="0" smtClean="0">
                <a:solidFill>
                  <a:schemeClr val="bg1"/>
                </a:solidFill>
                <a:latin typeface="Druk Wide Cyr" pitchFamily="2" charset="-52"/>
              </a:rPr>
              <a:t>приложения</a:t>
            </a:r>
            <a:endParaRPr lang="ru-RU" sz="2000" dirty="0">
              <a:solidFill>
                <a:schemeClr val="bg1"/>
              </a:solidFill>
              <a:latin typeface="Druk Wide Cyr" pitchFamily="2" charset="-5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73363" y="2327221"/>
            <a:ext cx="6379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Добавлять и редактировать заявки на ремонт</a:t>
            </a:r>
            <a:endParaRPr lang="ru-RU" sz="200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73363" y="3021693"/>
            <a:ext cx="553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Управлять списком 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</a:rPr>
              <a:t>услуг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3363" y="3705324"/>
            <a:ext cx="6067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Фильтровать заявки по категориям</a:t>
            </a:r>
            <a:endParaRPr lang="ru-RU" sz="200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73363" y="4359759"/>
            <a:ext cx="6723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Просматривать детальную информацию о заказах</a:t>
            </a:r>
            <a:endParaRPr lang="ru-RU" sz="200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00028" y="5198959"/>
            <a:ext cx="553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Формирование </a:t>
            </a:r>
            <a:r>
              <a:rPr lang="en-US" sz="20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PDF-</a:t>
            </a:r>
            <a:r>
              <a:rPr lang="ru-RU" sz="2000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отчётов</a:t>
            </a:r>
            <a:endParaRPr lang="ru-RU" sz="200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689" y="3038843"/>
            <a:ext cx="376339" cy="376339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914" y="2346792"/>
            <a:ext cx="376339" cy="376339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801" y="3757827"/>
            <a:ext cx="376339" cy="376339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270" y="4476812"/>
            <a:ext cx="376339" cy="376339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913" y="5222730"/>
            <a:ext cx="376339" cy="37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27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12603871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48CB69-DF68-4FCB-8CD8-13A52CA7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786" y="0"/>
            <a:ext cx="3356428" cy="1325563"/>
          </a:xfrm>
        </p:spPr>
        <p:txBody>
          <a:bodyPr/>
          <a:lstStyle/>
          <a:p>
            <a:r>
              <a:rPr lang="ru-RU" dirty="0">
                <a:solidFill>
                  <a:srgbClr val="5DD62C"/>
                </a:solidFill>
                <a:latin typeface="Druk Wide Cyr" pitchFamily="2" charset="-52"/>
              </a:rPr>
              <a:t>Задачи</a:t>
            </a:r>
          </a:p>
        </p:txBody>
      </p:sp>
    </p:spTree>
    <p:extLst>
      <p:ext uri="{BB962C8B-B14F-4D97-AF65-F5344CB8AC3E}">
        <p14:creationId xmlns:p14="http://schemas.microsoft.com/office/powerpoint/2010/main" val="185040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" t="-380" r="5210" b="15523"/>
          <a:stretch/>
        </p:blipFill>
        <p:spPr>
          <a:xfrm>
            <a:off x="-43543" y="-40821"/>
            <a:ext cx="12235543" cy="6898821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628AD2B5-911B-44BC-AABE-BEE2E8370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100" y="-19050"/>
            <a:ext cx="9372600" cy="1325563"/>
          </a:xfrm>
        </p:spPr>
        <p:txBody>
          <a:bodyPr/>
          <a:lstStyle/>
          <a:p>
            <a:r>
              <a:rPr lang="ru-RU" dirty="0">
                <a:solidFill>
                  <a:srgbClr val="5DD62C"/>
                </a:solidFill>
                <a:latin typeface="Druk Wide Cyr" pitchFamily="2" charset="-52"/>
              </a:rPr>
              <a:t>Средства разработки</a:t>
            </a:r>
          </a:p>
        </p:txBody>
      </p:sp>
      <p:sp>
        <p:nvSpPr>
          <p:cNvPr id="8" name="AutoShape 2" descr="Aspnet Vector SVG Icon - SVG Repo">
            <a:extLst>
              <a:ext uri="{FF2B5EF4-FFF2-40B4-BE49-F238E27FC236}">
                <a16:creationId xmlns:a16="http://schemas.microsoft.com/office/drawing/2014/main" id="{9B29024C-0C28-4F67-9D22-6BD1A3C285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13171" cy="261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459152" y="2053086"/>
            <a:ext cx="2547524" cy="3166614"/>
          </a:xfrm>
          <a:prstGeom prst="roundRect">
            <a:avLst/>
          </a:prstGeom>
          <a:solidFill>
            <a:srgbClr val="202020"/>
          </a:solidFill>
          <a:ln w="28575">
            <a:solidFill>
              <a:srgbClr val="5DD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192" y="1027628"/>
            <a:ext cx="1788417" cy="177063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9428" y="3106522"/>
            <a:ext cx="2547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Montserrat" panose="00000500000000000000" pitchFamily="2" charset="-52"/>
              </a:rPr>
              <a:t>Контейнеризация</a:t>
            </a:r>
            <a:endParaRPr lang="ru-RU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grpSp>
        <p:nvGrpSpPr>
          <p:cNvPr id="51" name="Группа 50"/>
          <p:cNvGrpSpPr/>
          <p:nvPr/>
        </p:nvGrpSpPr>
        <p:grpSpPr>
          <a:xfrm>
            <a:off x="6171044" y="1127341"/>
            <a:ext cx="2547524" cy="4092359"/>
            <a:chOff x="6171044" y="1127341"/>
            <a:chExt cx="2547524" cy="4092359"/>
          </a:xfrm>
        </p:grpSpPr>
        <p:grpSp>
          <p:nvGrpSpPr>
            <p:cNvPr id="50" name="Группа 49"/>
            <p:cNvGrpSpPr/>
            <p:nvPr/>
          </p:nvGrpSpPr>
          <p:grpSpPr>
            <a:xfrm>
              <a:off x="6171044" y="2006187"/>
              <a:ext cx="2547524" cy="3213513"/>
              <a:chOff x="6171044" y="2006187"/>
              <a:chExt cx="2547524" cy="3213513"/>
            </a:xfrm>
          </p:grpSpPr>
          <p:sp>
            <p:nvSpPr>
              <p:cNvPr id="24" name="Скругленный прямоугольник 23"/>
              <p:cNvSpPr/>
              <p:nvPr/>
            </p:nvSpPr>
            <p:spPr>
              <a:xfrm>
                <a:off x="6171044" y="2031518"/>
                <a:ext cx="2547524" cy="3188182"/>
              </a:xfrm>
              <a:prstGeom prst="roundRect">
                <a:avLst/>
              </a:prstGeom>
              <a:solidFill>
                <a:srgbClr val="202020"/>
              </a:solidFill>
              <a:ln w="28575">
                <a:solidFill>
                  <a:srgbClr val="5DD62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6327649" y="3073259"/>
                <a:ext cx="22240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b="1" dirty="0" smtClean="0">
                    <a:solidFill>
                      <a:schemeClr val="bg1"/>
                    </a:solidFill>
                    <a:latin typeface="Montserrat" panose="00000500000000000000" pitchFamily="2" charset="-52"/>
                  </a:rPr>
                  <a:t>Серверное приложение</a:t>
                </a:r>
                <a:endParaRPr lang="ru-RU" b="1" dirty="0">
                  <a:solidFill>
                    <a:schemeClr val="bg1"/>
                  </a:solidFill>
                  <a:latin typeface="Montserrat" panose="00000500000000000000" pitchFamily="2" charset="-52"/>
                </a:endParaRPr>
              </a:p>
            </p:txBody>
          </p:sp>
          <p:pic>
            <p:nvPicPr>
              <p:cNvPr id="7" name="Рисунок 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81353" y="2006187"/>
                <a:ext cx="1629197" cy="93254"/>
              </a:xfrm>
              <a:prstGeom prst="rect">
                <a:avLst/>
              </a:prstGeom>
            </p:spPr>
          </p:pic>
        </p:grpSp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4793" y="1127341"/>
              <a:ext cx="1742315" cy="1742315"/>
            </a:xfrm>
            <a:prstGeom prst="rect">
              <a:avLst/>
            </a:prstGeom>
          </p:spPr>
        </p:pic>
      </p:grpSp>
      <p:grpSp>
        <p:nvGrpSpPr>
          <p:cNvPr id="54" name="Группа 53"/>
          <p:cNvGrpSpPr/>
          <p:nvPr/>
        </p:nvGrpSpPr>
        <p:grpSpPr>
          <a:xfrm>
            <a:off x="9133087" y="1054715"/>
            <a:ext cx="2547524" cy="4164985"/>
            <a:chOff x="9133087" y="1054715"/>
            <a:chExt cx="2547524" cy="4164985"/>
          </a:xfrm>
        </p:grpSpPr>
        <p:grpSp>
          <p:nvGrpSpPr>
            <p:cNvPr id="53" name="Группа 52"/>
            <p:cNvGrpSpPr/>
            <p:nvPr/>
          </p:nvGrpSpPr>
          <p:grpSpPr>
            <a:xfrm>
              <a:off x="9133087" y="2006184"/>
              <a:ext cx="2547524" cy="3213516"/>
              <a:chOff x="9133087" y="2006184"/>
              <a:chExt cx="2547524" cy="3213516"/>
            </a:xfrm>
          </p:grpSpPr>
          <p:sp>
            <p:nvSpPr>
              <p:cNvPr id="25" name="Скругленный прямоугольник 24"/>
              <p:cNvSpPr/>
              <p:nvPr/>
            </p:nvSpPr>
            <p:spPr>
              <a:xfrm>
                <a:off x="9133087" y="2031518"/>
                <a:ext cx="2547524" cy="3188182"/>
              </a:xfrm>
              <a:prstGeom prst="roundRect">
                <a:avLst/>
              </a:prstGeom>
              <a:solidFill>
                <a:srgbClr val="202020"/>
              </a:solidFill>
              <a:ln w="28575">
                <a:solidFill>
                  <a:srgbClr val="5DD62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9264573" y="3078251"/>
                <a:ext cx="23864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b="1" dirty="0" smtClean="0">
                    <a:solidFill>
                      <a:schemeClr val="bg1"/>
                    </a:solidFill>
                    <a:latin typeface="Montserrat" panose="00000500000000000000" pitchFamily="2" charset="-52"/>
                  </a:rPr>
                  <a:t>Графический</a:t>
                </a:r>
              </a:p>
              <a:p>
                <a:pPr algn="ctr"/>
                <a:r>
                  <a:rPr lang="ru-RU" b="1" dirty="0" smtClean="0">
                    <a:solidFill>
                      <a:schemeClr val="bg1"/>
                    </a:solidFill>
                    <a:latin typeface="Montserrat" panose="00000500000000000000" pitchFamily="2" charset="-52"/>
                  </a:rPr>
                  <a:t>интерфейс</a:t>
                </a:r>
                <a:endParaRPr lang="ru-RU" b="1" dirty="0">
                  <a:solidFill>
                    <a:schemeClr val="bg1"/>
                  </a:solidFill>
                  <a:latin typeface="Montserrat" panose="00000500000000000000" pitchFamily="2" charset="-52"/>
                </a:endParaRPr>
              </a:p>
            </p:txBody>
          </p:sp>
          <p:pic>
            <p:nvPicPr>
              <p:cNvPr id="11" name="Рисунок 1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68002" y="2006184"/>
                <a:ext cx="1332641" cy="186508"/>
              </a:xfrm>
              <a:prstGeom prst="rect">
                <a:avLst/>
              </a:prstGeom>
            </p:spPr>
          </p:pic>
        </p:grpSp>
        <p:pic>
          <p:nvPicPr>
            <p:cNvPr id="18" name="Рисунок 17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1429" y="1054715"/>
              <a:ext cx="1732715" cy="1732715"/>
            </a:xfrm>
            <a:prstGeom prst="rect">
              <a:avLst/>
            </a:prstGeom>
          </p:spPr>
        </p:pic>
      </p:grpSp>
      <p:grpSp>
        <p:nvGrpSpPr>
          <p:cNvPr id="37" name="Группа 36"/>
          <p:cNvGrpSpPr/>
          <p:nvPr/>
        </p:nvGrpSpPr>
        <p:grpSpPr>
          <a:xfrm>
            <a:off x="3384084" y="1125616"/>
            <a:ext cx="2547524" cy="4094084"/>
            <a:chOff x="3234277" y="1158636"/>
            <a:chExt cx="2547524" cy="4094084"/>
          </a:xfrm>
        </p:grpSpPr>
        <p:grpSp>
          <p:nvGrpSpPr>
            <p:cNvPr id="34" name="Группа 33"/>
            <p:cNvGrpSpPr/>
            <p:nvPr/>
          </p:nvGrpSpPr>
          <p:grpSpPr>
            <a:xfrm>
              <a:off x="3234277" y="2031519"/>
              <a:ext cx="2547524" cy="3221201"/>
              <a:chOff x="3234277" y="2031519"/>
              <a:chExt cx="2547524" cy="3221201"/>
            </a:xfrm>
          </p:grpSpPr>
          <p:sp>
            <p:nvSpPr>
              <p:cNvPr id="17" name="Скругленный прямоугольник 16"/>
              <p:cNvSpPr/>
              <p:nvPr/>
            </p:nvSpPr>
            <p:spPr>
              <a:xfrm>
                <a:off x="3234277" y="2053086"/>
                <a:ext cx="2547524" cy="3199634"/>
              </a:xfrm>
              <a:prstGeom prst="roundRect">
                <a:avLst/>
              </a:prstGeom>
              <a:solidFill>
                <a:srgbClr val="202020"/>
              </a:solidFill>
              <a:ln w="28575">
                <a:solidFill>
                  <a:srgbClr val="5DD62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bg1"/>
                  </a:solidFill>
                  <a:latin typeface="Montserrat" panose="00000500000000000000" pitchFamily="2" charset="-52"/>
                </a:endParaRPr>
              </a:p>
            </p:txBody>
          </p:sp>
          <p:pic>
            <p:nvPicPr>
              <p:cNvPr id="5" name="Рисунок 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1444" y="2031519"/>
                <a:ext cx="1140821" cy="67921"/>
              </a:xfrm>
              <a:prstGeom prst="rect">
                <a:avLst/>
              </a:prstGeom>
            </p:spPr>
          </p:pic>
        </p:grpSp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2000" y="1158636"/>
              <a:ext cx="1947643" cy="1947643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653851" y="3139542"/>
              <a:ext cx="18559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dirty="0" smtClean="0">
                  <a:solidFill>
                    <a:srgbClr val="F8F8F8"/>
                  </a:solidFill>
                  <a:latin typeface="Montserrat" pitchFamily="2" charset="-52"/>
                </a:rPr>
                <a:t>База данных</a:t>
              </a:r>
              <a:endParaRPr lang="ru-RU" b="1" dirty="0">
                <a:solidFill>
                  <a:srgbClr val="F8F8F8"/>
                </a:solidFill>
                <a:latin typeface="Montserrat" pitchFamily="2" charset="-52"/>
              </a:endParaRPr>
            </a:p>
          </p:txBody>
        </p:sp>
      </p:grpSp>
      <p:sp>
        <p:nvSpPr>
          <p:cNvPr id="60" name="Скругленный прямоугольник 59"/>
          <p:cNvSpPr/>
          <p:nvPr/>
        </p:nvSpPr>
        <p:spPr>
          <a:xfrm>
            <a:off x="697389" y="3735887"/>
            <a:ext cx="2088468" cy="45719"/>
          </a:xfrm>
          <a:prstGeom prst="roundRect">
            <a:avLst/>
          </a:prstGeom>
          <a:solidFill>
            <a:srgbClr val="5DD62C"/>
          </a:solidFill>
          <a:ln>
            <a:solidFill>
              <a:srgbClr val="5DD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Скругленный прямоугольник 60"/>
          <p:cNvSpPr/>
          <p:nvPr/>
        </p:nvSpPr>
        <p:spPr>
          <a:xfrm>
            <a:off x="3626459" y="3735887"/>
            <a:ext cx="2088468" cy="45719"/>
          </a:xfrm>
          <a:prstGeom prst="roundRect">
            <a:avLst/>
          </a:prstGeom>
          <a:solidFill>
            <a:srgbClr val="5DD62C"/>
          </a:solidFill>
          <a:ln>
            <a:solidFill>
              <a:srgbClr val="5DD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Скругленный прямоугольник 61"/>
          <p:cNvSpPr/>
          <p:nvPr/>
        </p:nvSpPr>
        <p:spPr>
          <a:xfrm>
            <a:off x="6412838" y="3735888"/>
            <a:ext cx="2088468" cy="45719"/>
          </a:xfrm>
          <a:prstGeom prst="roundRect">
            <a:avLst/>
          </a:prstGeom>
          <a:solidFill>
            <a:srgbClr val="5DD62C"/>
          </a:solidFill>
          <a:ln>
            <a:solidFill>
              <a:srgbClr val="5DD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Скругленный прямоугольник 62"/>
          <p:cNvSpPr/>
          <p:nvPr/>
        </p:nvSpPr>
        <p:spPr>
          <a:xfrm>
            <a:off x="9381379" y="3735887"/>
            <a:ext cx="2088468" cy="45719"/>
          </a:xfrm>
          <a:prstGeom prst="roundRect">
            <a:avLst/>
          </a:prstGeom>
          <a:solidFill>
            <a:srgbClr val="5DD62C"/>
          </a:solidFill>
          <a:ln>
            <a:solidFill>
              <a:srgbClr val="5DD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/>
          <p:cNvSpPr txBox="1"/>
          <p:nvPr/>
        </p:nvSpPr>
        <p:spPr>
          <a:xfrm>
            <a:off x="1234031" y="4046758"/>
            <a:ext cx="101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8F8F8"/>
                </a:solidFill>
                <a:latin typeface="Montserrat" pitchFamily="2" charset="-52"/>
              </a:rPr>
              <a:t>Docker</a:t>
            </a:r>
            <a:endParaRPr lang="ru-RU" dirty="0">
              <a:solidFill>
                <a:srgbClr val="F8F8F8"/>
              </a:solidFill>
              <a:latin typeface="Montserrat" pitchFamily="2" charset="-5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158036" y="4046758"/>
            <a:ext cx="101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8F8F8"/>
                </a:solidFill>
                <a:latin typeface="Montserrat" pitchFamily="2" charset="-52"/>
              </a:rPr>
              <a:t>MySQL</a:t>
            </a:r>
            <a:endParaRPr lang="ru-RU" dirty="0">
              <a:solidFill>
                <a:srgbClr val="F8F8F8"/>
              </a:solidFill>
              <a:latin typeface="Montserrat" pitchFamily="2" charset="-5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859323" y="4046758"/>
            <a:ext cx="1160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8F8F8"/>
                </a:solidFill>
                <a:latin typeface="Montserrat" pitchFamily="2" charset="-52"/>
              </a:rPr>
              <a:t>ASP .net</a:t>
            </a:r>
            <a:endParaRPr lang="ru-RU" dirty="0">
              <a:solidFill>
                <a:srgbClr val="F8F8F8"/>
              </a:solidFill>
              <a:latin typeface="Montserrat" pitchFamily="2" charset="-5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019651" y="4046758"/>
            <a:ext cx="87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8F8F8"/>
                </a:solidFill>
                <a:latin typeface="Montserrat" pitchFamily="2" charset="-52"/>
              </a:rPr>
              <a:t>React</a:t>
            </a:r>
            <a:endParaRPr lang="ru-RU" dirty="0">
              <a:solidFill>
                <a:srgbClr val="F8F8F8"/>
              </a:solidFill>
              <a:latin typeface="Montserra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6455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94C57-AD89-4003-840A-565288364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357" y="0"/>
            <a:ext cx="9372600" cy="1325563"/>
          </a:xfrm>
        </p:spPr>
        <p:txBody>
          <a:bodyPr/>
          <a:lstStyle/>
          <a:p>
            <a:r>
              <a:rPr lang="ru-RU" dirty="0">
                <a:solidFill>
                  <a:srgbClr val="5DD62C"/>
                </a:solidFill>
                <a:latin typeface="Druk Wide Cyr" pitchFamily="2" charset="-52"/>
              </a:rPr>
              <a:t>Архитектура системы </a:t>
            </a:r>
          </a:p>
        </p:txBody>
      </p:sp>
    </p:spTree>
    <p:extLst>
      <p:ext uri="{BB962C8B-B14F-4D97-AF65-F5344CB8AC3E}">
        <p14:creationId xmlns:p14="http://schemas.microsoft.com/office/powerpoint/2010/main" val="79898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917"/>
          <a:stretch/>
        </p:blipFill>
        <p:spPr>
          <a:xfrm rot="10800000">
            <a:off x="-25400" y="0"/>
            <a:ext cx="12217398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87103-0B69-42AE-BF79-3B5C872F7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528" y="0"/>
            <a:ext cx="9974943" cy="1325563"/>
          </a:xfrm>
        </p:spPr>
        <p:txBody>
          <a:bodyPr/>
          <a:lstStyle/>
          <a:p>
            <a:r>
              <a:rPr lang="ru-RU" dirty="0">
                <a:solidFill>
                  <a:srgbClr val="5DD62C"/>
                </a:solidFill>
                <a:latin typeface="Druk Wide Cyr" pitchFamily="2" charset="-52"/>
              </a:rPr>
              <a:t>Преимущества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4568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453"/>
          <a:stretch/>
        </p:blipFill>
        <p:spPr>
          <a:xfrm>
            <a:off x="0" y="0"/>
            <a:ext cx="13954126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27295-DFA2-4AC0-AF7D-AF530C7D4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0425" y="0"/>
            <a:ext cx="5391150" cy="1325563"/>
          </a:xfrm>
        </p:spPr>
        <p:txBody>
          <a:bodyPr/>
          <a:lstStyle/>
          <a:p>
            <a:r>
              <a:rPr lang="ru-RU" dirty="0">
                <a:solidFill>
                  <a:srgbClr val="5DD62C"/>
                </a:solidFill>
                <a:latin typeface="Druk Wide Cyr" pitchFamily="2" charset="-52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74014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90</Words>
  <Application>Microsoft Office PowerPoint</Application>
  <PresentationFormat>Широкоэкранный</PresentationFormat>
  <Paragraphs>35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Druk Wide Cyr</vt:lpstr>
      <vt:lpstr>Inter</vt:lpstr>
      <vt:lpstr>Montserrat</vt:lpstr>
      <vt:lpstr>Montserrat Light</vt:lpstr>
      <vt:lpstr>Тема Office</vt:lpstr>
      <vt:lpstr>Разработка подсистемы «СмартФикс. Учет заявок на ремонт»</vt:lpstr>
      <vt:lpstr>Презентация PowerPoint</vt:lpstr>
      <vt:lpstr>Целевая аудитория</vt:lpstr>
      <vt:lpstr>Цель</vt:lpstr>
      <vt:lpstr>Задачи</vt:lpstr>
      <vt:lpstr>Средства разработки</vt:lpstr>
      <vt:lpstr>Архитектура системы </vt:lpstr>
      <vt:lpstr>Преимущества проекта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ultrashitband@gmail.com</dc:creator>
  <cp:lastModifiedBy>E66</cp:lastModifiedBy>
  <cp:revision>48</cp:revision>
  <dcterms:created xsi:type="dcterms:W3CDTF">2025-11-25T17:24:45Z</dcterms:created>
  <dcterms:modified xsi:type="dcterms:W3CDTF">2025-11-26T18:24:00Z</dcterms:modified>
</cp:coreProperties>
</file>